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1D1D1"/>
    <a:srgbClr val="1A1C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8"/>
    <p:restoredTop sz="94689"/>
  </p:normalViewPr>
  <p:slideViewPr>
    <p:cSldViewPr snapToGrid="0">
      <p:cViewPr varScale="1">
        <p:scale>
          <a:sx n="147" d="100"/>
          <a:sy n="147" d="100"/>
        </p:scale>
        <p:origin x="824" y="200"/>
      </p:cViewPr>
      <p:guideLst/>
    </p:cSldViewPr>
  </p:slideViewPr>
  <p:outlineViewPr>
    <p:cViewPr>
      <p:scale>
        <a:sx n="33" d="100"/>
        <a:sy n="33" d="100"/>
      </p:scale>
      <p:origin x="0" y="-147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8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1D7B37-C90C-2E48-9834-C0622EBC8EE0}" type="doc">
      <dgm:prSet loTypeId="urn:microsoft.com/office/officeart/2005/8/layout/funnel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207EAB-74BA-C74C-BCF8-7E3E135021F0}">
      <dgm:prSet phldrT="[Text]"/>
      <dgm:spPr/>
      <dgm:t>
        <a:bodyPr/>
        <a:lstStyle/>
        <a:p>
          <a:r>
            <a:rPr lang="en-US" dirty="0"/>
            <a:t>Removal</a:t>
          </a:r>
        </a:p>
      </dgm:t>
    </dgm:pt>
    <dgm:pt modelId="{84B36A35-FB38-2745-8259-8E4AC5B7B187}" type="parTrans" cxnId="{74173234-20A0-AF44-B3BF-66AA4CE18232}">
      <dgm:prSet/>
      <dgm:spPr/>
      <dgm:t>
        <a:bodyPr/>
        <a:lstStyle/>
        <a:p>
          <a:endParaRPr lang="en-US"/>
        </a:p>
      </dgm:t>
    </dgm:pt>
    <dgm:pt modelId="{85D39234-6A9A-4B49-8F90-BD5D5149C254}" type="sibTrans" cxnId="{74173234-20A0-AF44-B3BF-66AA4CE18232}">
      <dgm:prSet/>
      <dgm:spPr/>
      <dgm:t>
        <a:bodyPr/>
        <a:lstStyle/>
        <a:p>
          <a:endParaRPr lang="en-US"/>
        </a:p>
      </dgm:t>
    </dgm:pt>
    <dgm:pt modelId="{4DAE0832-2008-A342-89E1-91F230202FD0}">
      <dgm:prSet phldrT="[Text]"/>
      <dgm:spPr/>
      <dgm:t>
        <a:bodyPr/>
        <a:lstStyle/>
        <a:p>
          <a:r>
            <a:rPr lang="en-US" dirty="0"/>
            <a:t>Conversion</a:t>
          </a:r>
        </a:p>
      </dgm:t>
    </dgm:pt>
    <dgm:pt modelId="{266F9060-41CC-464B-AF61-F5CD7CBF911E}" type="parTrans" cxnId="{E5FFD4EA-9F79-7C47-B525-4F62F901C9EA}">
      <dgm:prSet/>
      <dgm:spPr/>
      <dgm:t>
        <a:bodyPr/>
        <a:lstStyle/>
        <a:p>
          <a:endParaRPr lang="en-US"/>
        </a:p>
      </dgm:t>
    </dgm:pt>
    <dgm:pt modelId="{E147C307-886B-4A48-A695-AC1589C4C4A8}" type="sibTrans" cxnId="{E5FFD4EA-9F79-7C47-B525-4F62F901C9EA}">
      <dgm:prSet/>
      <dgm:spPr/>
      <dgm:t>
        <a:bodyPr/>
        <a:lstStyle/>
        <a:p>
          <a:endParaRPr lang="en-US"/>
        </a:p>
      </dgm:t>
    </dgm:pt>
    <dgm:pt modelId="{B1785AD2-9683-9B4F-AC43-7C0687B2324C}">
      <dgm:prSet phldrT="[Text]"/>
      <dgm:spPr/>
      <dgm:t>
        <a:bodyPr/>
        <a:lstStyle/>
        <a:p>
          <a:r>
            <a:rPr lang="en-US" dirty="0"/>
            <a:t>Creation</a:t>
          </a:r>
        </a:p>
      </dgm:t>
    </dgm:pt>
    <dgm:pt modelId="{C60123A1-CA93-2D46-82DA-A84B91DBBEFD}" type="parTrans" cxnId="{ED321DB1-B1D7-F04E-A627-EC7C9A666B7F}">
      <dgm:prSet/>
      <dgm:spPr/>
      <dgm:t>
        <a:bodyPr/>
        <a:lstStyle/>
        <a:p>
          <a:endParaRPr lang="en-US"/>
        </a:p>
      </dgm:t>
    </dgm:pt>
    <dgm:pt modelId="{3F7A2728-39F8-5A42-86BC-4C5B7037457E}" type="sibTrans" cxnId="{ED321DB1-B1D7-F04E-A627-EC7C9A666B7F}">
      <dgm:prSet/>
      <dgm:spPr/>
      <dgm:t>
        <a:bodyPr/>
        <a:lstStyle/>
        <a:p>
          <a:endParaRPr lang="en-US"/>
        </a:p>
      </dgm:t>
    </dgm:pt>
    <dgm:pt modelId="{19881FA9-B7A1-224C-9DEA-03FAF4EFC2B1}">
      <dgm:prSet phldrT="[Text]"/>
      <dgm:spPr/>
      <dgm:t>
        <a:bodyPr/>
        <a:lstStyle/>
        <a:p>
          <a:r>
            <a:rPr lang="en-US" dirty="0">
              <a:solidFill>
                <a:srgbClr val="D1D1D1"/>
              </a:solidFill>
            </a:rPr>
            <a:t>Cleaned Data</a:t>
          </a:r>
        </a:p>
      </dgm:t>
    </dgm:pt>
    <dgm:pt modelId="{BD470B38-C904-2B4E-B69A-6810D65B85FD}" type="parTrans" cxnId="{6D53A1D2-DD46-464D-9B89-C633072BEF86}">
      <dgm:prSet/>
      <dgm:spPr/>
      <dgm:t>
        <a:bodyPr/>
        <a:lstStyle/>
        <a:p>
          <a:endParaRPr lang="en-US"/>
        </a:p>
      </dgm:t>
    </dgm:pt>
    <dgm:pt modelId="{CAE8A8D1-B0FC-0448-837A-3AF3FD98581D}" type="sibTrans" cxnId="{6D53A1D2-DD46-464D-9B89-C633072BEF86}">
      <dgm:prSet/>
      <dgm:spPr/>
      <dgm:t>
        <a:bodyPr/>
        <a:lstStyle/>
        <a:p>
          <a:endParaRPr lang="en-US"/>
        </a:p>
      </dgm:t>
    </dgm:pt>
    <dgm:pt modelId="{809D6FDD-770A-6843-B1E7-0A6FB566142A}" type="pres">
      <dgm:prSet presAssocID="{831D7B37-C90C-2E48-9834-C0622EBC8EE0}" presName="Name0" presStyleCnt="0">
        <dgm:presLayoutVars>
          <dgm:chMax val="4"/>
          <dgm:resizeHandles val="exact"/>
        </dgm:presLayoutVars>
      </dgm:prSet>
      <dgm:spPr/>
    </dgm:pt>
    <dgm:pt modelId="{1113E72B-EAF1-E141-B62C-05245445C1C1}" type="pres">
      <dgm:prSet presAssocID="{831D7B37-C90C-2E48-9834-C0622EBC8EE0}" presName="ellipse" presStyleLbl="trBgShp" presStyleIdx="0" presStyleCnt="1"/>
      <dgm:spPr/>
    </dgm:pt>
    <dgm:pt modelId="{BC951E9B-87CB-4641-84AF-E36975A92A83}" type="pres">
      <dgm:prSet presAssocID="{831D7B37-C90C-2E48-9834-C0622EBC8EE0}" presName="arrow1" presStyleLbl="fgShp" presStyleIdx="0" presStyleCnt="1"/>
      <dgm:spPr/>
    </dgm:pt>
    <dgm:pt modelId="{1C6B251B-8BDE-1F43-8DE1-0F85C32DB367}" type="pres">
      <dgm:prSet presAssocID="{831D7B37-C90C-2E48-9834-C0622EBC8EE0}" presName="rectangle" presStyleLbl="revTx" presStyleIdx="0" presStyleCnt="1">
        <dgm:presLayoutVars>
          <dgm:bulletEnabled val="1"/>
        </dgm:presLayoutVars>
      </dgm:prSet>
      <dgm:spPr/>
    </dgm:pt>
    <dgm:pt modelId="{10FF1401-649C-4247-AB12-A39219542232}" type="pres">
      <dgm:prSet presAssocID="{4DAE0832-2008-A342-89E1-91F230202FD0}" presName="item1" presStyleLbl="node1" presStyleIdx="0" presStyleCnt="3">
        <dgm:presLayoutVars>
          <dgm:bulletEnabled val="1"/>
        </dgm:presLayoutVars>
      </dgm:prSet>
      <dgm:spPr/>
    </dgm:pt>
    <dgm:pt modelId="{605BF0D2-89EF-4A4B-8C8D-3077908994A6}" type="pres">
      <dgm:prSet presAssocID="{B1785AD2-9683-9B4F-AC43-7C0687B2324C}" presName="item2" presStyleLbl="node1" presStyleIdx="1" presStyleCnt="3">
        <dgm:presLayoutVars>
          <dgm:bulletEnabled val="1"/>
        </dgm:presLayoutVars>
      </dgm:prSet>
      <dgm:spPr/>
    </dgm:pt>
    <dgm:pt modelId="{D8820FCC-FC12-7C42-8706-E3BADD9295F0}" type="pres">
      <dgm:prSet presAssocID="{19881FA9-B7A1-224C-9DEA-03FAF4EFC2B1}" presName="item3" presStyleLbl="node1" presStyleIdx="2" presStyleCnt="3">
        <dgm:presLayoutVars>
          <dgm:bulletEnabled val="1"/>
        </dgm:presLayoutVars>
      </dgm:prSet>
      <dgm:spPr/>
    </dgm:pt>
    <dgm:pt modelId="{506DF82E-094A-AF42-A69D-4681A8E5DAA6}" type="pres">
      <dgm:prSet presAssocID="{831D7B37-C90C-2E48-9834-C0622EBC8EE0}" presName="funnel" presStyleLbl="trAlignAcc1" presStyleIdx="0" presStyleCnt="1"/>
      <dgm:spPr/>
    </dgm:pt>
  </dgm:ptLst>
  <dgm:cxnLst>
    <dgm:cxn modelId="{58CDFF08-10A6-2D48-A497-181C2C71193F}" type="presOf" srcId="{4DAE0832-2008-A342-89E1-91F230202FD0}" destId="{605BF0D2-89EF-4A4B-8C8D-3077908994A6}" srcOrd="0" destOrd="0" presId="urn:microsoft.com/office/officeart/2005/8/layout/funnel1"/>
    <dgm:cxn modelId="{DC8D1A33-9454-A34A-B9FD-82620A4F9008}" type="presOf" srcId="{58207EAB-74BA-C74C-BCF8-7E3E135021F0}" destId="{D8820FCC-FC12-7C42-8706-E3BADD9295F0}" srcOrd="0" destOrd="0" presId="urn:microsoft.com/office/officeart/2005/8/layout/funnel1"/>
    <dgm:cxn modelId="{74173234-20A0-AF44-B3BF-66AA4CE18232}" srcId="{831D7B37-C90C-2E48-9834-C0622EBC8EE0}" destId="{58207EAB-74BA-C74C-BCF8-7E3E135021F0}" srcOrd="0" destOrd="0" parTransId="{84B36A35-FB38-2745-8259-8E4AC5B7B187}" sibTransId="{85D39234-6A9A-4B49-8F90-BD5D5149C254}"/>
    <dgm:cxn modelId="{A7EF0F75-1B8D-C248-A601-81F564C1BB69}" type="presOf" srcId="{831D7B37-C90C-2E48-9834-C0622EBC8EE0}" destId="{809D6FDD-770A-6843-B1E7-0A6FB566142A}" srcOrd="0" destOrd="0" presId="urn:microsoft.com/office/officeart/2005/8/layout/funnel1"/>
    <dgm:cxn modelId="{39AB5482-AACF-EC40-8025-EBA210EED327}" type="presOf" srcId="{19881FA9-B7A1-224C-9DEA-03FAF4EFC2B1}" destId="{1C6B251B-8BDE-1F43-8DE1-0F85C32DB367}" srcOrd="0" destOrd="0" presId="urn:microsoft.com/office/officeart/2005/8/layout/funnel1"/>
    <dgm:cxn modelId="{ED321DB1-B1D7-F04E-A627-EC7C9A666B7F}" srcId="{831D7B37-C90C-2E48-9834-C0622EBC8EE0}" destId="{B1785AD2-9683-9B4F-AC43-7C0687B2324C}" srcOrd="2" destOrd="0" parTransId="{C60123A1-CA93-2D46-82DA-A84B91DBBEFD}" sibTransId="{3F7A2728-39F8-5A42-86BC-4C5B7037457E}"/>
    <dgm:cxn modelId="{6D53A1D2-DD46-464D-9B89-C633072BEF86}" srcId="{831D7B37-C90C-2E48-9834-C0622EBC8EE0}" destId="{19881FA9-B7A1-224C-9DEA-03FAF4EFC2B1}" srcOrd="3" destOrd="0" parTransId="{BD470B38-C904-2B4E-B69A-6810D65B85FD}" sibTransId="{CAE8A8D1-B0FC-0448-837A-3AF3FD98581D}"/>
    <dgm:cxn modelId="{F614BEE3-AE4C-A245-AF30-36E961D8D33B}" type="presOf" srcId="{B1785AD2-9683-9B4F-AC43-7C0687B2324C}" destId="{10FF1401-649C-4247-AB12-A39219542232}" srcOrd="0" destOrd="0" presId="urn:microsoft.com/office/officeart/2005/8/layout/funnel1"/>
    <dgm:cxn modelId="{E5FFD4EA-9F79-7C47-B525-4F62F901C9EA}" srcId="{831D7B37-C90C-2E48-9834-C0622EBC8EE0}" destId="{4DAE0832-2008-A342-89E1-91F230202FD0}" srcOrd="1" destOrd="0" parTransId="{266F9060-41CC-464B-AF61-F5CD7CBF911E}" sibTransId="{E147C307-886B-4A48-A695-AC1589C4C4A8}"/>
    <dgm:cxn modelId="{97D52338-32E1-5B45-9990-E3F546F38552}" type="presParOf" srcId="{809D6FDD-770A-6843-B1E7-0A6FB566142A}" destId="{1113E72B-EAF1-E141-B62C-05245445C1C1}" srcOrd="0" destOrd="0" presId="urn:microsoft.com/office/officeart/2005/8/layout/funnel1"/>
    <dgm:cxn modelId="{1BCFF2E8-01EA-6E42-B8D2-8266755401D1}" type="presParOf" srcId="{809D6FDD-770A-6843-B1E7-0A6FB566142A}" destId="{BC951E9B-87CB-4641-84AF-E36975A92A83}" srcOrd="1" destOrd="0" presId="urn:microsoft.com/office/officeart/2005/8/layout/funnel1"/>
    <dgm:cxn modelId="{13A67D54-09C6-C94F-89DD-8F45EAB8B596}" type="presParOf" srcId="{809D6FDD-770A-6843-B1E7-0A6FB566142A}" destId="{1C6B251B-8BDE-1F43-8DE1-0F85C32DB367}" srcOrd="2" destOrd="0" presId="urn:microsoft.com/office/officeart/2005/8/layout/funnel1"/>
    <dgm:cxn modelId="{0064CA43-40B0-F742-98FE-7E521F8478DB}" type="presParOf" srcId="{809D6FDD-770A-6843-B1E7-0A6FB566142A}" destId="{10FF1401-649C-4247-AB12-A39219542232}" srcOrd="3" destOrd="0" presId="urn:microsoft.com/office/officeart/2005/8/layout/funnel1"/>
    <dgm:cxn modelId="{8C173750-4F91-3E4A-8B91-3C6ACF45C47F}" type="presParOf" srcId="{809D6FDD-770A-6843-B1E7-0A6FB566142A}" destId="{605BF0D2-89EF-4A4B-8C8D-3077908994A6}" srcOrd="4" destOrd="0" presId="urn:microsoft.com/office/officeart/2005/8/layout/funnel1"/>
    <dgm:cxn modelId="{D1F8DFEB-CDA9-9C46-B062-5C2E93700C6A}" type="presParOf" srcId="{809D6FDD-770A-6843-B1E7-0A6FB566142A}" destId="{D8820FCC-FC12-7C42-8706-E3BADD9295F0}" srcOrd="5" destOrd="0" presId="urn:microsoft.com/office/officeart/2005/8/layout/funnel1"/>
    <dgm:cxn modelId="{AC8C9A03-D753-024E-8664-264A09501CF1}" type="presParOf" srcId="{809D6FDD-770A-6843-B1E7-0A6FB566142A}" destId="{506DF82E-094A-AF42-A69D-4681A8E5DAA6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9A269E-7DA2-464D-B84C-E6875DADD15E}" type="doc">
      <dgm:prSet loTypeId="urn:microsoft.com/office/officeart/2005/8/layout/balanc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EEA512-41C6-0941-9F27-16A1E8E39EBC}">
      <dgm:prSet phldrT="[Text]"/>
      <dgm:spPr/>
      <dgm:t>
        <a:bodyPr/>
        <a:lstStyle/>
        <a:p>
          <a:r>
            <a:rPr lang="en-US" dirty="0"/>
            <a:t>Readmission</a:t>
          </a:r>
        </a:p>
      </dgm:t>
    </dgm:pt>
    <dgm:pt modelId="{ABD331BA-8D5E-A640-9A9C-725505F26B71}" type="sibTrans" cxnId="{F0B1974E-88D2-1342-A755-053114B67C3D}">
      <dgm:prSet/>
      <dgm:spPr/>
      <dgm:t>
        <a:bodyPr/>
        <a:lstStyle/>
        <a:p>
          <a:endParaRPr lang="en-US"/>
        </a:p>
      </dgm:t>
    </dgm:pt>
    <dgm:pt modelId="{F25CDD0F-26D1-E449-91A8-9037A674BACA}" type="parTrans" cxnId="{F0B1974E-88D2-1342-A755-053114B67C3D}">
      <dgm:prSet/>
      <dgm:spPr/>
      <dgm:t>
        <a:bodyPr/>
        <a:lstStyle/>
        <a:p>
          <a:endParaRPr lang="en-US"/>
        </a:p>
      </dgm:t>
    </dgm:pt>
    <dgm:pt modelId="{B48E8132-C5FC-7442-902F-78EA1690A17A}">
      <dgm:prSet phldrT="[Text]"/>
      <dgm:spPr/>
      <dgm:t>
        <a:bodyPr/>
        <a:lstStyle/>
        <a:p>
          <a:r>
            <a:rPr lang="en-US" dirty="0"/>
            <a:t>&gt; 30 Days</a:t>
          </a:r>
        </a:p>
      </dgm:t>
    </dgm:pt>
    <dgm:pt modelId="{2D400FD1-2206-EE41-A450-D045AB6BDF25}" type="sibTrans" cxnId="{82142BCA-B692-2D41-8768-C6E0C7970A57}">
      <dgm:prSet/>
      <dgm:spPr/>
      <dgm:t>
        <a:bodyPr/>
        <a:lstStyle/>
        <a:p>
          <a:endParaRPr lang="en-US"/>
        </a:p>
      </dgm:t>
    </dgm:pt>
    <dgm:pt modelId="{A4743386-20E7-8F48-A81F-F8ED75F4B157}" type="parTrans" cxnId="{82142BCA-B692-2D41-8768-C6E0C7970A57}">
      <dgm:prSet/>
      <dgm:spPr/>
      <dgm:t>
        <a:bodyPr/>
        <a:lstStyle/>
        <a:p>
          <a:endParaRPr lang="en-US"/>
        </a:p>
      </dgm:t>
    </dgm:pt>
    <dgm:pt modelId="{05141685-DAC5-CF49-9B06-2C49962D192C}">
      <dgm:prSet phldrT="[Text]"/>
      <dgm:spPr/>
      <dgm:t>
        <a:bodyPr/>
        <a:lstStyle/>
        <a:p>
          <a:r>
            <a:rPr lang="en-US" dirty="0"/>
            <a:t>&lt; 30 Days</a:t>
          </a:r>
        </a:p>
      </dgm:t>
    </dgm:pt>
    <dgm:pt modelId="{C374C2AC-4E84-2E49-B41C-7455BFCCD98D}" type="sibTrans" cxnId="{6C61B36A-4C2F-D343-BE2E-E2E53648E839}">
      <dgm:prSet/>
      <dgm:spPr/>
      <dgm:t>
        <a:bodyPr/>
        <a:lstStyle/>
        <a:p>
          <a:endParaRPr lang="en-US"/>
        </a:p>
      </dgm:t>
    </dgm:pt>
    <dgm:pt modelId="{8073CE08-1B6B-5C43-8C14-A761755CDF7E}" type="parTrans" cxnId="{6C61B36A-4C2F-D343-BE2E-E2E53648E839}">
      <dgm:prSet/>
      <dgm:spPr/>
      <dgm:t>
        <a:bodyPr/>
        <a:lstStyle/>
        <a:p>
          <a:endParaRPr lang="en-US"/>
        </a:p>
      </dgm:t>
    </dgm:pt>
    <dgm:pt modelId="{0FCEDC35-2B15-1E44-A08B-FB1A6539BFAB}">
      <dgm:prSet phldrT="[Text]"/>
      <dgm:spPr/>
      <dgm:t>
        <a:bodyPr/>
        <a:lstStyle/>
        <a:p>
          <a:r>
            <a:rPr lang="en-US" dirty="0"/>
            <a:t>Medications</a:t>
          </a:r>
        </a:p>
      </dgm:t>
    </dgm:pt>
    <dgm:pt modelId="{1B3A61A9-B6F1-1C45-A070-1BCC1C009432}" type="sibTrans" cxnId="{E0823E7C-75EF-BA48-94C4-016B669D6DF6}">
      <dgm:prSet/>
      <dgm:spPr/>
      <dgm:t>
        <a:bodyPr/>
        <a:lstStyle/>
        <a:p>
          <a:endParaRPr lang="en-US"/>
        </a:p>
      </dgm:t>
    </dgm:pt>
    <dgm:pt modelId="{F8AC2894-BA6C-0442-930A-0DBFB132D694}" type="parTrans" cxnId="{E0823E7C-75EF-BA48-94C4-016B669D6DF6}">
      <dgm:prSet/>
      <dgm:spPr/>
      <dgm:t>
        <a:bodyPr/>
        <a:lstStyle/>
        <a:p>
          <a:endParaRPr lang="en-US"/>
        </a:p>
      </dgm:t>
    </dgm:pt>
    <dgm:pt modelId="{C705470C-E8AF-7049-ABF0-F95D14DD9479}">
      <dgm:prSet phldrT="[Text]"/>
      <dgm:spPr/>
      <dgm:t>
        <a:bodyPr/>
        <a:lstStyle/>
        <a:p>
          <a:r>
            <a:rPr lang="en-US" dirty="0"/>
            <a:t>Repaglinide</a:t>
          </a:r>
        </a:p>
      </dgm:t>
    </dgm:pt>
    <dgm:pt modelId="{30217AE0-5954-144C-BB62-350671992EB2}" type="sibTrans" cxnId="{BBBC0E3A-12B7-9842-B26C-8BAF7B3E9FD2}">
      <dgm:prSet/>
      <dgm:spPr/>
      <dgm:t>
        <a:bodyPr/>
        <a:lstStyle/>
        <a:p>
          <a:endParaRPr lang="en-US"/>
        </a:p>
      </dgm:t>
    </dgm:pt>
    <dgm:pt modelId="{EE8A0C7F-0746-8143-AF23-AD38E4B06092}" type="parTrans" cxnId="{BBBC0E3A-12B7-9842-B26C-8BAF7B3E9FD2}">
      <dgm:prSet/>
      <dgm:spPr/>
      <dgm:t>
        <a:bodyPr/>
        <a:lstStyle/>
        <a:p>
          <a:endParaRPr lang="en-US"/>
        </a:p>
      </dgm:t>
    </dgm:pt>
    <dgm:pt modelId="{E7CBF0B3-037E-3C4A-8A39-878D3B362A13}">
      <dgm:prSet phldrT="[Text]"/>
      <dgm:spPr/>
      <dgm:t>
        <a:bodyPr/>
        <a:lstStyle/>
        <a:p>
          <a:r>
            <a:rPr lang="en-US" dirty="0"/>
            <a:t>Metformin</a:t>
          </a:r>
        </a:p>
      </dgm:t>
    </dgm:pt>
    <dgm:pt modelId="{23C41DE4-965A-574D-AD41-56272AA8322B}" type="sibTrans" cxnId="{48F10B35-7DC1-7A48-9904-F5368496C849}">
      <dgm:prSet/>
      <dgm:spPr/>
      <dgm:t>
        <a:bodyPr/>
        <a:lstStyle/>
        <a:p>
          <a:endParaRPr lang="en-US"/>
        </a:p>
      </dgm:t>
    </dgm:pt>
    <dgm:pt modelId="{A91714FC-21CE-2743-8BF1-3EC850C07A55}" type="parTrans" cxnId="{48F10B35-7DC1-7A48-9904-F5368496C849}">
      <dgm:prSet/>
      <dgm:spPr/>
      <dgm:t>
        <a:bodyPr/>
        <a:lstStyle/>
        <a:p>
          <a:endParaRPr lang="en-US"/>
        </a:p>
      </dgm:t>
    </dgm:pt>
    <dgm:pt modelId="{B2641072-EB7F-DB4B-A0B8-D93C19416A80}">
      <dgm:prSet phldrT="[Text]"/>
      <dgm:spPr/>
      <dgm:t>
        <a:bodyPr/>
        <a:lstStyle/>
        <a:p>
          <a:r>
            <a:rPr lang="en-US" dirty="0"/>
            <a:t>Insulin</a:t>
          </a:r>
        </a:p>
      </dgm:t>
    </dgm:pt>
    <dgm:pt modelId="{8764AFFA-CD7A-1D46-A77B-5DC1F1869497}" type="sibTrans" cxnId="{73278706-52D2-9449-8AAD-A91C46239E49}">
      <dgm:prSet/>
      <dgm:spPr/>
      <dgm:t>
        <a:bodyPr/>
        <a:lstStyle/>
        <a:p>
          <a:endParaRPr lang="en-US"/>
        </a:p>
      </dgm:t>
    </dgm:pt>
    <dgm:pt modelId="{C2C15A5C-06BC-DF43-96C2-68B383AEF7BA}" type="parTrans" cxnId="{73278706-52D2-9449-8AAD-A91C46239E49}">
      <dgm:prSet/>
      <dgm:spPr/>
      <dgm:t>
        <a:bodyPr/>
        <a:lstStyle/>
        <a:p>
          <a:endParaRPr lang="en-US"/>
        </a:p>
      </dgm:t>
    </dgm:pt>
    <dgm:pt modelId="{480AC8A0-1B29-8A4E-8F29-D3A2F89569C9}" type="pres">
      <dgm:prSet presAssocID="{E99A269E-7DA2-464D-B84C-E6875DADD15E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91B8AAAA-E99A-5F42-9DCB-3B8F36667358}" type="pres">
      <dgm:prSet presAssocID="{E99A269E-7DA2-464D-B84C-E6875DADD15E}" presName="dummyMaxCanvas" presStyleCnt="0"/>
      <dgm:spPr/>
    </dgm:pt>
    <dgm:pt modelId="{36B59A6C-938E-9647-A3C1-7DDA3C687395}" type="pres">
      <dgm:prSet presAssocID="{E99A269E-7DA2-464D-B84C-E6875DADD15E}" presName="parentComposite" presStyleCnt="0"/>
      <dgm:spPr/>
    </dgm:pt>
    <dgm:pt modelId="{AC319536-9048-C748-B41E-05E2F656A206}" type="pres">
      <dgm:prSet presAssocID="{E99A269E-7DA2-464D-B84C-E6875DADD15E}" presName="parent1" presStyleLbl="alignAccFollowNode1" presStyleIdx="0" presStyleCnt="4">
        <dgm:presLayoutVars>
          <dgm:chMax val="4"/>
        </dgm:presLayoutVars>
      </dgm:prSet>
      <dgm:spPr/>
    </dgm:pt>
    <dgm:pt modelId="{AAB5D806-2686-074B-AC10-AFFABD08CE9A}" type="pres">
      <dgm:prSet presAssocID="{E99A269E-7DA2-464D-B84C-E6875DADD15E}" presName="parent2" presStyleLbl="alignAccFollowNode1" presStyleIdx="1" presStyleCnt="4">
        <dgm:presLayoutVars>
          <dgm:chMax val="4"/>
        </dgm:presLayoutVars>
      </dgm:prSet>
      <dgm:spPr/>
    </dgm:pt>
    <dgm:pt modelId="{89D89CD1-249E-164C-9DB6-48DA85986503}" type="pres">
      <dgm:prSet presAssocID="{E99A269E-7DA2-464D-B84C-E6875DADD15E}" presName="childrenComposite" presStyleCnt="0"/>
      <dgm:spPr/>
    </dgm:pt>
    <dgm:pt modelId="{9509A847-59C7-EA43-A286-A46F24A3B72A}" type="pres">
      <dgm:prSet presAssocID="{E99A269E-7DA2-464D-B84C-E6875DADD15E}" presName="dummyMaxCanvas_ChildArea" presStyleCnt="0"/>
      <dgm:spPr/>
    </dgm:pt>
    <dgm:pt modelId="{55EAD4FD-EBB2-BE4D-A716-A4CFEBE23951}" type="pres">
      <dgm:prSet presAssocID="{E99A269E-7DA2-464D-B84C-E6875DADD15E}" presName="fulcrum" presStyleLbl="alignAccFollowNode1" presStyleIdx="2" presStyleCnt="4"/>
      <dgm:spPr/>
    </dgm:pt>
    <dgm:pt modelId="{8565A5A3-DCA3-CA42-8707-35A44C8C050D}" type="pres">
      <dgm:prSet presAssocID="{E99A269E-7DA2-464D-B84C-E6875DADD15E}" presName="balance_23" presStyleLbl="alignAccFollowNode1" presStyleIdx="3" presStyleCnt="4">
        <dgm:presLayoutVars>
          <dgm:bulletEnabled val="1"/>
        </dgm:presLayoutVars>
      </dgm:prSet>
      <dgm:spPr/>
    </dgm:pt>
    <dgm:pt modelId="{7D98C255-377C-6A42-8701-316377A655B9}" type="pres">
      <dgm:prSet presAssocID="{E99A269E-7DA2-464D-B84C-E6875DADD15E}" presName="right_23_1" presStyleLbl="node1" presStyleIdx="0" presStyleCnt="5">
        <dgm:presLayoutVars>
          <dgm:bulletEnabled val="1"/>
        </dgm:presLayoutVars>
      </dgm:prSet>
      <dgm:spPr/>
    </dgm:pt>
    <dgm:pt modelId="{FFAD366A-325B-F640-91FB-2CB01865124D}" type="pres">
      <dgm:prSet presAssocID="{E99A269E-7DA2-464D-B84C-E6875DADD15E}" presName="right_23_2" presStyleLbl="node1" presStyleIdx="1" presStyleCnt="5">
        <dgm:presLayoutVars>
          <dgm:bulletEnabled val="1"/>
        </dgm:presLayoutVars>
      </dgm:prSet>
      <dgm:spPr/>
    </dgm:pt>
    <dgm:pt modelId="{59ECF007-2B7E-C846-BA99-70DD72DF321C}" type="pres">
      <dgm:prSet presAssocID="{E99A269E-7DA2-464D-B84C-E6875DADD15E}" presName="right_23_3" presStyleLbl="node1" presStyleIdx="2" presStyleCnt="5">
        <dgm:presLayoutVars>
          <dgm:bulletEnabled val="1"/>
        </dgm:presLayoutVars>
      </dgm:prSet>
      <dgm:spPr/>
    </dgm:pt>
    <dgm:pt modelId="{79256604-3C77-2C4A-8B58-75F75C903BF8}" type="pres">
      <dgm:prSet presAssocID="{E99A269E-7DA2-464D-B84C-E6875DADD15E}" presName="left_23_1" presStyleLbl="node1" presStyleIdx="3" presStyleCnt="5">
        <dgm:presLayoutVars>
          <dgm:bulletEnabled val="1"/>
        </dgm:presLayoutVars>
      </dgm:prSet>
      <dgm:spPr/>
    </dgm:pt>
    <dgm:pt modelId="{458FBF24-2CAB-7C40-937C-F2AD4268F6EC}" type="pres">
      <dgm:prSet presAssocID="{E99A269E-7DA2-464D-B84C-E6875DADD15E}" presName="left_23_2" presStyleLbl="node1" presStyleIdx="4" presStyleCnt="5">
        <dgm:presLayoutVars>
          <dgm:bulletEnabled val="1"/>
        </dgm:presLayoutVars>
      </dgm:prSet>
      <dgm:spPr/>
    </dgm:pt>
  </dgm:ptLst>
  <dgm:cxnLst>
    <dgm:cxn modelId="{73278706-52D2-9449-8AAD-A91C46239E49}" srcId="{0FCEDC35-2B15-1E44-A08B-FB1A6539BFAB}" destId="{B2641072-EB7F-DB4B-A0B8-D93C19416A80}" srcOrd="2" destOrd="0" parTransId="{C2C15A5C-06BC-DF43-96C2-68B383AEF7BA}" sibTransId="{8764AFFA-CD7A-1D46-A77B-5DC1F1869497}"/>
    <dgm:cxn modelId="{1F73AF08-1D98-C149-B57B-608D81DA05D1}" type="presOf" srcId="{5EEEA512-41C6-0941-9F27-16A1E8E39EBC}" destId="{AC319536-9048-C748-B41E-05E2F656A206}" srcOrd="0" destOrd="0" presId="urn:microsoft.com/office/officeart/2005/8/layout/balance1"/>
    <dgm:cxn modelId="{23BC9314-4CC8-B34E-BD6B-3C7CB8C7A873}" type="presOf" srcId="{C705470C-E8AF-7049-ABF0-F95D14DD9479}" destId="{7D98C255-377C-6A42-8701-316377A655B9}" srcOrd="0" destOrd="0" presId="urn:microsoft.com/office/officeart/2005/8/layout/balance1"/>
    <dgm:cxn modelId="{48F10B35-7DC1-7A48-9904-F5368496C849}" srcId="{0FCEDC35-2B15-1E44-A08B-FB1A6539BFAB}" destId="{E7CBF0B3-037E-3C4A-8A39-878D3B362A13}" srcOrd="1" destOrd="0" parTransId="{A91714FC-21CE-2743-8BF1-3EC850C07A55}" sibTransId="{23C41DE4-965A-574D-AD41-56272AA8322B}"/>
    <dgm:cxn modelId="{BBBC0E3A-12B7-9842-B26C-8BAF7B3E9FD2}" srcId="{0FCEDC35-2B15-1E44-A08B-FB1A6539BFAB}" destId="{C705470C-E8AF-7049-ABF0-F95D14DD9479}" srcOrd="0" destOrd="0" parTransId="{EE8A0C7F-0746-8143-AF23-AD38E4B06092}" sibTransId="{30217AE0-5954-144C-BB62-350671992EB2}"/>
    <dgm:cxn modelId="{F0B1974E-88D2-1342-A755-053114B67C3D}" srcId="{E99A269E-7DA2-464D-B84C-E6875DADD15E}" destId="{5EEEA512-41C6-0941-9F27-16A1E8E39EBC}" srcOrd="0" destOrd="0" parTransId="{F25CDD0F-26D1-E449-91A8-9037A674BACA}" sibTransId="{ABD331BA-8D5E-A640-9A9C-725505F26B71}"/>
    <dgm:cxn modelId="{6C61B36A-4C2F-D343-BE2E-E2E53648E839}" srcId="{5EEEA512-41C6-0941-9F27-16A1E8E39EBC}" destId="{05141685-DAC5-CF49-9B06-2C49962D192C}" srcOrd="1" destOrd="0" parTransId="{8073CE08-1B6B-5C43-8C14-A761755CDF7E}" sibTransId="{C374C2AC-4E84-2E49-B41C-7455BFCCD98D}"/>
    <dgm:cxn modelId="{E0823E7C-75EF-BA48-94C4-016B669D6DF6}" srcId="{E99A269E-7DA2-464D-B84C-E6875DADD15E}" destId="{0FCEDC35-2B15-1E44-A08B-FB1A6539BFAB}" srcOrd="1" destOrd="0" parTransId="{F8AC2894-BA6C-0442-930A-0DBFB132D694}" sibTransId="{1B3A61A9-B6F1-1C45-A070-1BCC1C009432}"/>
    <dgm:cxn modelId="{82142BCA-B692-2D41-8768-C6E0C7970A57}" srcId="{5EEEA512-41C6-0941-9F27-16A1E8E39EBC}" destId="{B48E8132-C5FC-7442-902F-78EA1690A17A}" srcOrd="0" destOrd="0" parTransId="{A4743386-20E7-8F48-A81F-F8ED75F4B157}" sibTransId="{2D400FD1-2206-EE41-A450-D045AB6BDF25}"/>
    <dgm:cxn modelId="{DBE928DD-B95A-FF4B-AF6D-D604A9E1ACE7}" type="presOf" srcId="{B2641072-EB7F-DB4B-A0B8-D93C19416A80}" destId="{59ECF007-2B7E-C846-BA99-70DD72DF321C}" srcOrd="0" destOrd="0" presId="urn:microsoft.com/office/officeart/2005/8/layout/balance1"/>
    <dgm:cxn modelId="{99C745E3-89E5-2F48-82F3-F368A20BE603}" type="presOf" srcId="{0FCEDC35-2B15-1E44-A08B-FB1A6539BFAB}" destId="{AAB5D806-2686-074B-AC10-AFFABD08CE9A}" srcOrd="0" destOrd="0" presId="urn:microsoft.com/office/officeart/2005/8/layout/balance1"/>
    <dgm:cxn modelId="{25B951E4-EB23-F145-AB1F-17E26F2CC1B5}" type="presOf" srcId="{E99A269E-7DA2-464D-B84C-E6875DADD15E}" destId="{480AC8A0-1B29-8A4E-8F29-D3A2F89569C9}" srcOrd="0" destOrd="0" presId="urn:microsoft.com/office/officeart/2005/8/layout/balance1"/>
    <dgm:cxn modelId="{3020F5E9-7AF1-D84A-8010-CEC54DF87B80}" type="presOf" srcId="{E7CBF0B3-037E-3C4A-8A39-878D3B362A13}" destId="{FFAD366A-325B-F640-91FB-2CB01865124D}" srcOrd="0" destOrd="0" presId="urn:microsoft.com/office/officeart/2005/8/layout/balance1"/>
    <dgm:cxn modelId="{0A6BF9F6-C10E-2845-AABD-DEB66C3FB292}" type="presOf" srcId="{05141685-DAC5-CF49-9B06-2C49962D192C}" destId="{458FBF24-2CAB-7C40-937C-F2AD4268F6EC}" srcOrd="0" destOrd="0" presId="urn:microsoft.com/office/officeart/2005/8/layout/balance1"/>
    <dgm:cxn modelId="{63C7C4FF-2BA6-FE47-AAE4-9341BF02753F}" type="presOf" srcId="{B48E8132-C5FC-7442-902F-78EA1690A17A}" destId="{79256604-3C77-2C4A-8B58-75F75C903BF8}" srcOrd="0" destOrd="0" presId="urn:microsoft.com/office/officeart/2005/8/layout/balance1"/>
    <dgm:cxn modelId="{F6FA41BF-EA41-0D4F-9E69-08225B1B2D56}" type="presParOf" srcId="{480AC8A0-1B29-8A4E-8F29-D3A2F89569C9}" destId="{91B8AAAA-E99A-5F42-9DCB-3B8F36667358}" srcOrd="0" destOrd="0" presId="urn:microsoft.com/office/officeart/2005/8/layout/balance1"/>
    <dgm:cxn modelId="{F95A4390-B4CE-544D-94EC-36D46E2BAE31}" type="presParOf" srcId="{480AC8A0-1B29-8A4E-8F29-D3A2F89569C9}" destId="{36B59A6C-938E-9647-A3C1-7DDA3C687395}" srcOrd="1" destOrd="0" presId="urn:microsoft.com/office/officeart/2005/8/layout/balance1"/>
    <dgm:cxn modelId="{76C1BB84-B88C-164B-9A1A-8EE0C750807F}" type="presParOf" srcId="{36B59A6C-938E-9647-A3C1-7DDA3C687395}" destId="{AC319536-9048-C748-B41E-05E2F656A206}" srcOrd="0" destOrd="0" presId="urn:microsoft.com/office/officeart/2005/8/layout/balance1"/>
    <dgm:cxn modelId="{149CF462-B08B-6844-9B3F-6BC570E47DC3}" type="presParOf" srcId="{36B59A6C-938E-9647-A3C1-7DDA3C687395}" destId="{AAB5D806-2686-074B-AC10-AFFABD08CE9A}" srcOrd="1" destOrd="0" presId="urn:microsoft.com/office/officeart/2005/8/layout/balance1"/>
    <dgm:cxn modelId="{52032862-C79E-0C45-8941-0A465BCF55CA}" type="presParOf" srcId="{480AC8A0-1B29-8A4E-8F29-D3A2F89569C9}" destId="{89D89CD1-249E-164C-9DB6-48DA85986503}" srcOrd="2" destOrd="0" presId="urn:microsoft.com/office/officeart/2005/8/layout/balance1"/>
    <dgm:cxn modelId="{9E667BB0-06C6-3147-94DF-24A57A057C22}" type="presParOf" srcId="{89D89CD1-249E-164C-9DB6-48DA85986503}" destId="{9509A847-59C7-EA43-A286-A46F24A3B72A}" srcOrd="0" destOrd="0" presId="urn:microsoft.com/office/officeart/2005/8/layout/balance1"/>
    <dgm:cxn modelId="{EDBE2008-2190-AB4C-9EBD-9D2B5F4D1C72}" type="presParOf" srcId="{89D89CD1-249E-164C-9DB6-48DA85986503}" destId="{55EAD4FD-EBB2-BE4D-A716-A4CFEBE23951}" srcOrd="1" destOrd="0" presId="urn:microsoft.com/office/officeart/2005/8/layout/balance1"/>
    <dgm:cxn modelId="{508E9A23-622B-8745-A03C-0B2F5DADE30F}" type="presParOf" srcId="{89D89CD1-249E-164C-9DB6-48DA85986503}" destId="{8565A5A3-DCA3-CA42-8707-35A44C8C050D}" srcOrd="2" destOrd="0" presId="urn:microsoft.com/office/officeart/2005/8/layout/balance1"/>
    <dgm:cxn modelId="{7A5E8AE8-7EA8-A448-AF35-8FC8695517CB}" type="presParOf" srcId="{89D89CD1-249E-164C-9DB6-48DA85986503}" destId="{7D98C255-377C-6A42-8701-316377A655B9}" srcOrd="3" destOrd="0" presId="urn:microsoft.com/office/officeart/2005/8/layout/balance1"/>
    <dgm:cxn modelId="{886C2A85-2320-874E-8696-8FCC928BC416}" type="presParOf" srcId="{89D89CD1-249E-164C-9DB6-48DA85986503}" destId="{FFAD366A-325B-F640-91FB-2CB01865124D}" srcOrd="4" destOrd="0" presId="urn:microsoft.com/office/officeart/2005/8/layout/balance1"/>
    <dgm:cxn modelId="{BF2D7C22-907C-2041-9A25-7C4F4A034752}" type="presParOf" srcId="{89D89CD1-249E-164C-9DB6-48DA85986503}" destId="{59ECF007-2B7E-C846-BA99-70DD72DF321C}" srcOrd="5" destOrd="0" presId="urn:microsoft.com/office/officeart/2005/8/layout/balance1"/>
    <dgm:cxn modelId="{330633BE-9282-854B-B83E-B4287139E773}" type="presParOf" srcId="{89D89CD1-249E-164C-9DB6-48DA85986503}" destId="{79256604-3C77-2C4A-8B58-75F75C903BF8}" srcOrd="6" destOrd="0" presId="urn:microsoft.com/office/officeart/2005/8/layout/balance1"/>
    <dgm:cxn modelId="{D5A96B8F-788D-534A-868A-5824D3DC860B}" type="presParOf" srcId="{89D89CD1-249E-164C-9DB6-48DA85986503}" destId="{458FBF24-2CAB-7C40-937C-F2AD4268F6EC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3E72B-EAF1-E141-B62C-05245445C1C1}">
      <dsp:nvSpPr>
        <dsp:cNvPr id="0" name=""/>
        <dsp:cNvSpPr/>
      </dsp:nvSpPr>
      <dsp:spPr>
        <a:xfrm>
          <a:off x="1476152" y="109350"/>
          <a:ext cx="2170178" cy="753674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951E9B-87CB-4641-84AF-E36975A92A83}">
      <dsp:nvSpPr>
        <dsp:cNvPr id="0" name=""/>
        <dsp:cNvSpPr/>
      </dsp:nvSpPr>
      <dsp:spPr>
        <a:xfrm>
          <a:off x="2354317" y="1954842"/>
          <a:ext cx="420577" cy="269169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6B251B-8BDE-1F43-8DE1-0F85C32DB367}">
      <dsp:nvSpPr>
        <dsp:cNvPr id="0" name=""/>
        <dsp:cNvSpPr/>
      </dsp:nvSpPr>
      <dsp:spPr>
        <a:xfrm>
          <a:off x="1555220" y="2170178"/>
          <a:ext cx="2018770" cy="504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D1D1D1"/>
              </a:solidFill>
            </a:rPr>
            <a:t>Cleaned Data</a:t>
          </a:r>
        </a:p>
      </dsp:txBody>
      <dsp:txXfrm>
        <a:off x="1555220" y="2170178"/>
        <a:ext cx="2018770" cy="504692"/>
      </dsp:txXfrm>
    </dsp:sp>
    <dsp:sp modelId="{10FF1401-649C-4247-AB12-A39219542232}">
      <dsp:nvSpPr>
        <dsp:cNvPr id="0" name=""/>
        <dsp:cNvSpPr/>
      </dsp:nvSpPr>
      <dsp:spPr>
        <a:xfrm>
          <a:off x="2265155" y="921232"/>
          <a:ext cx="757038" cy="7570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Creation</a:t>
          </a:r>
        </a:p>
      </dsp:txBody>
      <dsp:txXfrm>
        <a:off x="2376021" y="1032098"/>
        <a:ext cx="535306" cy="535306"/>
      </dsp:txXfrm>
    </dsp:sp>
    <dsp:sp modelId="{605BF0D2-89EF-4A4B-8C8D-3077908994A6}">
      <dsp:nvSpPr>
        <dsp:cNvPr id="0" name=""/>
        <dsp:cNvSpPr/>
      </dsp:nvSpPr>
      <dsp:spPr>
        <a:xfrm>
          <a:off x="1723451" y="353284"/>
          <a:ext cx="757038" cy="7570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Conversion</a:t>
          </a:r>
        </a:p>
      </dsp:txBody>
      <dsp:txXfrm>
        <a:off x="1834317" y="464150"/>
        <a:ext cx="535306" cy="535306"/>
      </dsp:txXfrm>
    </dsp:sp>
    <dsp:sp modelId="{D8820FCC-FC12-7C42-8706-E3BADD9295F0}">
      <dsp:nvSpPr>
        <dsp:cNvPr id="0" name=""/>
        <dsp:cNvSpPr/>
      </dsp:nvSpPr>
      <dsp:spPr>
        <a:xfrm>
          <a:off x="2497313" y="170249"/>
          <a:ext cx="757038" cy="7570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Removal</a:t>
          </a:r>
        </a:p>
      </dsp:txBody>
      <dsp:txXfrm>
        <a:off x="2608179" y="281115"/>
        <a:ext cx="535306" cy="535306"/>
      </dsp:txXfrm>
    </dsp:sp>
    <dsp:sp modelId="{506DF82E-094A-AF42-A69D-4681A8E5DAA6}">
      <dsp:nvSpPr>
        <dsp:cNvPr id="0" name=""/>
        <dsp:cNvSpPr/>
      </dsp:nvSpPr>
      <dsp:spPr>
        <a:xfrm>
          <a:off x="1386989" y="16823"/>
          <a:ext cx="2355232" cy="1884185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319536-9048-C748-B41E-05E2F656A206}">
      <dsp:nvSpPr>
        <dsp:cNvPr id="0" name=""/>
        <dsp:cNvSpPr/>
      </dsp:nvSpPr>
      <dsp:spPr>
        <a:xfrm>
          <a:off x="876017" y="0"/>
          <a:ext cx="936180" cy="5201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Readmission</a:t>
          </a:r>
        </a:p>
      </dsp:txBody>
      <dsp:txXfrm>
        <a:off x="891250" y="15233"/>
        <a:ext cx="905714" cy="489634"/>
      </dsp:txXfrm>
    </dsp:sp>
    <dsp:sp modelId="{AAB5D806-2686-074B-AC10-AFFABD08CE9A}">
      <dsp:nvSpPr>
        <dsp:cNvPr id="0" name=""/>
        <dsp:cNvSpPr/>
      </dsp:nvSpPr>
      <dsp:spPr>
        <a:xfrm>
          <a:off x="2228277" y="0"/>
          <a:ext cx="936180" cy="5201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Medications</a:t>
          </a:r>
        </a:p>
      </dsp:txBody>
      <dsp:txXfrm>
        <a:off x="2243510" y="15233"/>
        <a:ext cx="905714" cy="489634"/>
      </dsp:txXfrm>
    </dsp:sp>
    <dsp:sp modelId="{55EAD4FD-EBB2-BE4D-A716-A4CFEBE23951}">
      <dsp:nvSpPr>
        <dsp:cNvPr id="0" name=""/>
        <dsp:cNvSpPr/>
      </dsp:nvSpPr>
      <dsp:spPr>
        <a:xfrm>
          <a:off x="1825199" y="2210425"/>
          <a:ext cx="390075" cy="390075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5A5A3-DCA3-CA42-8707-35A44C8C050D}">
      <dsp:nvSpPr>
        <dsp:cNvPr id="0" name=""/>
        <dsp:cNvSpPr/>
      </dsp:nvSpPr>
      <dsp:spPr>
        <a:xfrm rot="240000">
          <a:off x="849654" y="2043273"/>
          <a:ext cx="2341164" cy="1637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98C255-377C-6A42-8701-316377A655B9}">
      <dsp:nvSpPr>
        <dsp:cNvPr id="0" name=""/>
        <dsp:cNvSpPr/>
      </dsp:nvSpPr>
      <dsp:spPr>
        <a:xfrm rot="240000">
          <a:off x="2255320" y="1633957"/>
          <a:ext cx="934102" cy="4351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Repaglinide</a:t>
          </a:r>
        </a:p>
      </dsp:txBody>
      <dsp:txXfrm>
        <a:off x="2276565" y="1655202"/>
        <a:ext cx="891612" cy="392706"/>
      </dsp:txXfrm>
    </dsp:sp>
    <dsp:sp modelId="{FFAD366A-325B-F640-91FB-2CB01865124D}">
      <dsp:nvSpPr>
        <dsp:cNvPr id="0" name=""/>
        <dsp:cNvSpPr/>
      </dsp:nvSpPr>
      <dsp:spPr>
        <a:xfrm rot="240000">
          <a:off x="2289127" y="1165867"/>
          <a:ext cx="934102" cy="4351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Metformin</a:t>
          </a:r>
        </a:p>
      </dsp:txBody>
      <dsp:txXfrm>
        <a:off x="2310372" y="1187112"/>
        <a:ext cx="891612" cy="392706"/>
      </dsp:txXfrm>
    </dsp:sp>
    <dsp:sp modelId="{59ECF007-2B7E-C846-BA99-70DD72DF321C}">
      <dsp:nvSpPr>
        <dsp:cNvPr id="0" name=""/>
        <dsp:cNvSpPr/>
      </dsp:nvSpPr>
      <dsp:spPr>
        <a:xfrm rot="240000">
          <a:off x="2322933" y="708179"/>
          <a:ext cx="934102" cy="4351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Insulin</a:t>
          </a:r>
        </a:p>
      </dsp:txBody>
      <dsp:txXfrm>
        <a:off x="2344178" y="729424"/>
        <a:ext cx="891612" cy="392706"/>
      </dsp:txXfrm>
    </dsp:sp>
    <dsp:sp modelId="{79256604-3C77-2C4A-8B58-75F75C903BF8}">
      <dsp:nvSpPr>
        <dsp:cNvPr id="0" name=""/>
        <dsp:cNvSpPr/>
      </dsp:nvSpPr>
      <dsp:spPr>
        <a:xfrm rot="240000">
          <a:off x="916063" y="1540339"/>
          <a:ext cx="934102" cy="4351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&gt; 30 Days</a:t>
          </a:r>
        </a:p>
      </dsp:txBody>
      <dsp:txXfrm>
        <a:off x="937308" y="1561584"/>
        <a:ext cx="891612" cy="392706"/>
      </dsp:txXfrm>
    </dsp:sp>
    <dsp:sp modelId="{458FBF24-2CAB-7C40-937C-F2AD4268F6EC}">
      <dsp:nvSpPr>
        <dsp:cNvPr id="0" name=""/>
        <dsp:cNvSpPr/>
      </dsp:nvSpPr>
      <dsp:spPr>
        <a:xfrm rot="240000">
          <a:off x="949869" y="1072249"/>
          <a:ext cx="934102" cy="4351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&lt; 30 Days</a:t>
          </a:r>
        </a:p>
      </dsp:txBody>
      <dsp:txXfrm>
        <a:off x="971114" y="1093494"/>
        <a:ext cx="891612" cy="392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E21B7-B23A-2748-A2DC-E855AFCEC651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EEC8C-EA73-FD45-A4ED-1CC7F3A9D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59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EEC8C-EA73-FD45-A4ED-1CC7F3A9DC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90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EEC8C-EA73-FD45-A4ED-1CC7F3A9DC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55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F99EF-0D9D-19B5-A5DF-E7FDF47E8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F0F7F2-B8D1-75E2-27F1-102773A1E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17857-7D94-0F0D-A3BA-048C421C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A406-98AE-F844-8C0C-48E89F87FB1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F3E31-BEFD-CC3D-E2F5-DD30FC37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4C5C7-C69B-E821-93C6-4CCB29F9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3389-85B4-BD48-9EB9-5EC15927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95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408A-9C69-BB93-62B5-C0EDAC69A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3F28B-5BAB-E20B-CE60-EB177B341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1A32C-B08D-473A-2715-365CED22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A406-98AE-F844-8C0C-48E89F87FB1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3252B-701C-583F-6487-C7FD8EB7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A5001-ED0D-28E9-7D45-732C0EAD6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3389-85B4-BD48-9EB9-5EC15927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0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8A4F-11B8-A7A8-D51D-A4CC8BF33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96D6F-C351-A4FE-337D-4DCF2921F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8E2B4-1C05-FF35-312F-DE6AE2BE5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A406-98AE-F844-8C0C-48E89F87FB1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29DD-DA4D-8F28-1AD0-9CE1463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AFAF7-176B-3919-15BA-CE2D41074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3389-85B4-BD48-9EB9-5EC15927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7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F9A72-1B8B-C19D-E358-579531CFF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F1CA0-8757-A900-7360-FFF2AC791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F3CD8-A8BC-2706-6C2A-3D239ED9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6C4D9-C87E-F878-4A81-2D86F0ED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A406-98AE-F844-8C0C-48E89F87FB1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075A6-61CE-492E-0172-2BAF66A33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227E4-3B5C-66EE-A941-2231BA43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3389-85B4-BD48-9EB9-5EC15927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19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A7C76-6D13-1A11-6C60-2B7B8E205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148BA-5126-157A-93A8-F12D30DAA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93AD0-610F-DFD0-23CC-911FE0401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290B90-8AC2-06FC-1D8B-F5B9938788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EA097-BBF3-1834-C369-52E4BB797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3FFDA-DC4E-9BE5-7256-C7BD77D2C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A406-98AE-F844-8C0C-48E89F87FB1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69F776-40AD-8EE5-DA89-89A5A552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16AAB5-6255-4D09-6A11-255AC7AF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3389-85B4-BD48-9EB9-5EC15927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42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AA3E-8E6B-F612-FEB3-0BE3D41D1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EEAC9-D141-7DC4-0503-015682AA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A406-98AE-F844-8C0C-48E89F87FB1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EF489-5BDB-F240-CDF2-74942D13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6C6B8-48FB-1727-7CE9-8F12B054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3389-85B4-BD48-9EB9-5EC15927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84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FC5882-241F-CD65-5471-2D58627D3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A406-98AE-F844-8C0C-48E89F87FB1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6B903-7A29-3AE7-B51C-8A5952D2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100DC-93CC-23D6-1073-45BD60D71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3389-85B4-BD48-9EB9-5EC15927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60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248FA-4B7E-968C-8E1C-81487E8FB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59110-69DF-F894-8939-5D806DFB0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4D74F-F007-A6A9-918E-8259A0B19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C314A-6219-B899-4D42-66AC588B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A406-98AE-F844-8C0C-48E89F87FB1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C8CAD-5FEC-CF0D-4B5B-93F8D5779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936F1-4D54-00D8-8093-3AEFD0CF8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3389-85B4-BD48-9EB9-5EC15927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3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254B-A19F-1693-6376-7156DA685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0C231E-4828-ABB3-A15A-994AD29AA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441B9-95D6-A113-5F84-BFF91A288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3B2D8-6D17-8436-4D21-5B0A21FA8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A406-98AE-F844-8C0C-48E89F87FB1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7C63-DB5E-9B86-5EA7-F986DB116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C9953-1029-BA69-82B5-4EA2718F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3389-85B4-BD48-9EB9-5EC15927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1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3F-387F-C658-8D72-CB71DDAC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24580-18F5-B4A4-D3B3-DDCB54A18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79C58-1054-0C36-59C6-083F2BBE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A406-98AE-F844-8C0C-48E89F87FB1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59B91-C99D-E9FC-91C4-E4CAEEDF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E1544-EA36-2AEE-8D03-3D976AB7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3389-85B4-BD48-9EB9-5EC15927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80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58D24D-FDA4-148A-9011-A8E552470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C32C0-99A3-353D-757E-EA34D850B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AB75D-1324-E8C4-C8E7-969BF3E0B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A406-98AE-F844-8C0C-48E89F87FB1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939D8-510E-6DF3-35C9-0BEBE1DA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76DEA-C3B3-1320-A57D-27924DFC2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43389-85B4-BD48-9EB9-5EC15927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69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32A7D-FC69-B986-8CBE-9D7E6A6C4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E52F1-8A34-D9DD-5A1C-8E75AF2CB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B4B16-374B-EAD5-9B0E-547F35C14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CA406-98AE-F844-8C0C-48E89F87FB1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F6E77-5153-15CE-09FE-4DA4539CDD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4AA58-FADB-D024-628F-6DE914B9E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F43389-85B4-BD48-9EB9-5EC15927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D3A29-D1A9-3CB4-E044-131B6E7B0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160463"/>
            <a:ext cx="8991600" cy="3005137"/>
          </a:xfrm>
        </p:spPr>
        <p:txBody>
          <a:bodyPr anchor="ctr">
            <a:normAutofit fontScale="90000"/>
          </a:bodyPr>
          <a:lstStyle/>
          <a:p>
            <a:r>
              <a:rPr lang="en-US" sz="7200" b="1" dirty="0">
                <a:solidFill>
                  <a:srgbClr val="FFFFFF"/>
                </a:solidFill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Clinical Risk Factor Analysis for 30-Day Diabetic Readmission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FDAAC-22BF-1B39-C15B-139C3D6AA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1950" y="4668838"/>
            <a:ext cx="3848100" cy="449262"/>
          </a:xfrm>
        </p:spPr>
        <p:txBody>
          <a:bodyPr anchor="ctr"/>
          <a:lstStyle/>
          <a:p>
            <a:r>
              <a:rPr lang="en-US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Presenter: Andrew Stringer</a:t>
            </a:r>
          </a:p>
        </p:txBody>
      </p:sp>
    </p:spTree>
    <p:extLst>
      <p:ext uri="{BB962C8B-B14F-4D97-AF65-F5344CB8AC3E}">
        <p14:creationId xmlns:p14="http://schemas.microsoft.com/office/powerpoint/2010/main" val="3172875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543D-302E-2CFF-71AF-D6F5542DC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3225800" cy="625475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91CD8-7408-0BFE-58ED-B32978379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525"/>
            <a:ext cx="10071100" cy="4643438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Bachelor of Science – Information Technology Management from WGU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Job history includes customer service, management, IT support, and workforce administration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Skills include Python, SQL, and statistical analysis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Have a family history of diabetes</a:t>
            </a:r>
          </a:p>
        </p:txBody>
      </p:sp>
    </p:spTree>
    <p:extLst>
      <p:ext uri="{BB962C8B-B14F-4D97-AF65-F5344CB8AC3E}">
        <p14:creationId xmlns:p14="http://schemas.microsoft.com/office/powerpoint/2010/main" val="1149666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34AE2-CD83-2E45-C19A-265098663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8329612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 and Hypothesis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550C9-A478-C8AB-7850-FDD441546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681163"/>
            <a:ext cx="1789112" cy="823912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43F0A-9920-3681-01D9-76CB0DE00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317750"/>
            <a:ext cx="5157787" cy="3006725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Patient readmissions within 30 days are costly for hospitals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The safety of the patient is also at risk due to risk of illness, and mistreatment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0353C-8000-1B15-94D9-4CCD0D19C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2159000" cy="823912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Hypothesis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280DA9-CA64-21CB-D4E3-E5B3F19FC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71725"/>
            <a:ext cx="5183188" cy="3235325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Clinical markers, such as administering an HbA1c test and adjusting medications, are significantly associated with a reduction in the probability of 30-day readmissions</a:t>
            </a:r>
          </a:p>
        </p:txBody>
      </p:sp>
      <p:pic>
        <p:nvPicPr>
          <p:cNvPr id="12" name="Graphic 11" descr="Head with gears with solid fill">
            <a:extLst>
              <a:ext uri="{FF2B5EF4-FFF2-40B4-BE49-F238E27FC236}">
                <a16:creationId xmlns:a16="http://schemas.microsoft.com/office/drawing/2014/main" id="{45A29F5D-42AC-C9D5-79BA-652CC16545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09479" y="203528"/>
            <a:ext cx="2168197" cy="216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44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642BE-CD22-9958-DFD4-EEABE923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30200"/>
            <a:ext cx="8316913" cy="1346200"/>
          </a:xfrm>
        </p:spPr>
        <p:txBody>
          <a:bodyPr anchor="ctr">
            <a:no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Data Cleaning 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3BE7A-DBEE-1757-483A-1AF5EF1B6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1574800"/>
            <a:ext cx="5129212" cy="4762500"/>
          </a:xfrm>
        </p:spPr>
        <p:txBody>
          <a:bodyPr>
            <a:normAutofit fontScale="925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Removed 21 of 50 variables that were not relevant to the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Convert medication status into numeric variables for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Created an indicator for whether an HbA1c test was performed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Created an indicator for 30-day readmission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Created an indicator for whether a patient’s medication regimen changed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AAD8E8-A03A-55E1-CCEE-5A1610793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60116"/>
            <a:ext cx="5454650" cy="2277184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E82387D-3627-F604-F05A-BD76FD1CA3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4623410"/>
              </p:ext>
            </p:extLst>
          </p:nvPr>
        </p:nvGraphicFramePr>
        <p:xfrm>
          <a:off x="6258719" y="1452037"/>
          <a:ext cx="5129212" cy="2691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10731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E180D-A41E-8E51-88D5-14BE6CEE0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FD8D2-A517-6AEA-88FE-CBDB679CC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840912" cy="1206500"/>
          </a:xfrm>
        </p:spPr>
        <p:txBody>
          <a:bodyPr anchor="ctr"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Chi-Square Testing 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539C3-8940-FE95-AEE3-756662FA3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97856"/>
            <a:ext cx="4494212" cy="3468688"/>
          </a:xfrm>
        </p:spPr>
        <p:txBody>
          <a:bodyPr anchor="ctr">
            <a:normAutofit fontScale="92500" lnSpcReduction="2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Conducted a statistical test to examine the relationship between medications and hospital readmission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Organized data into comparison tables for each medication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Adjusted significance thresholds to account for the number of medications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274300-BE31-D48D-0169-A8990686F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809222"/>
            <a:ext cx="6473255" cy="2108200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3A86928-6986-1F08-D7BB-39529C9EE3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3404079"/>
              </p:ext>
            </p:extLst>
          </p:nvPr>
        </p:nvGraphicFramePr>
        <p:xfrm>
          <a:off x="6550390" y="4062944"/>
          <a:ext cx="4040474" cy="2600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75513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EC3520-F20B-3D88-67EB-821A96B7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21DB9-3391-56BF-0B4C-537B3B80E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20700"/>
            <a:ext cx="7237412" cy="1066800"/>
          </a:xfrm>
        </p:spPr>
        <p:txBody>
          <a:bodyPr anchor="ctr"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Cramer’s V 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6D3F3-9CB6-ABAF-2E20-59E9B994A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5506"/>
            <a:ext cx="4583112" cy="3811588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Used results from the chi-square test to measure the strength of relationships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Calculated an effect size for medications linked to readmission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Determined how strong the relationships were, not just whether they were statistically significant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349BAA-674F-3041-7877-11DD6D1FBF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73750" y="1765300"/>
            <a:ext cx="5715000" cy="457200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685528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D90A0-B1B6-322F-2F7D-BAE6F46E1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031F-1B9B-46D2-4FCF-BF21AD62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965200"/>
          </a:xfrm>
        </p:spPr>
        <p:txBody>
          <a:bodyPr anchor="ctr"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Logistic Regression 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85326-C948-3380-74F4-17BE9CA6C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16100"/>
            <a:ext cx="5434012" cy="43434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Split the data into training and testing sets to evaluate model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Checked for overlapping variables to ensure reliable results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Estimated how different medications affect the probability of readmission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Evaluated whether receiving an HbA1c test was associated with lower readmission probability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38F167-8E79-5031-A321-3F98CDFF4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525" y="1422400"/>
            <a:ext cx="3744912" cy="20805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D12CE1-61A2-25A2-7C76-0619D9E8B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3910833"/>
            <a:ext cx="4652962" cy="241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783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2AB10-087B-C0D6-694D-28AE8D700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43B20-290D-ED9E-0F7A-554EE9B45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8300"/>
            <a:ext cx="8685212" cy="914400"/>
          </a:xfrm>
        </p:spPr>
        <p:txBody>
          <a:bodyPr anchor="ctr"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Random Forest 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8BD3E-EA39-FD86-C2E6-D943D2191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71600"/>
            <a:ext cx="6234112" cy="5029200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Used patient and treatment variables as predictors and readmission as the outcome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Split the data into training and test sets to evaluate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Ranked the most important predictors using feature importance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Visualized how key variables influence readmission probability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Used model explanation techniques to understand how individual variables contribute to predictions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5C74C-4CAE-2C11-7553-562685800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912" y="1905000"/>
            <a:ext cx="39243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1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6AB27-83AD-4F47-EA21-04365A03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425"/>
            <a:ext cx="7353300" cy="981075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venir Next" panose="020B0503020202020204" pitchFamily="34" charset="0"/>
              </a:rPr>
              <a:t>Summary of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AB2B-3CE2-3243-366A-2FB56E869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963"/>
            <a:ext cx="10515600" cy="4900612"/>
          </a:xfrm>
        </p:spPr>
        <p:txBody>
          <a:bodyPr anchor="ctr"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Diabetes medications and having an HbA1c test administered show statistically detectable but practically weak relationships with 30-day readmission rates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Repaglinide, Insulin, and a general change in medication increases the probability of readmission under 30 days by 13-20%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Metformin-Rosiglitazone, Chlorpropamide, Acarbose, and Metformin lower the probability of readmission under 30 days by 19-36%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Having an HbA1c test administered lowers the probability of readmission under 30 days by 15-17%</a:t>
            </a:r>
          </a:p>
        </p:txBody>
      </p:sp>
      <p:pic>
        <p:nvPicPr>
          <p:cNvPr id="5" name="Graphic 4" descr="Arrow Up with solid fill">
            <a:extLst>
              <a:ext uri="{FF2B5EF4-FFF2-40B4-BE49-F238E27FC236}">
                <a16:creationId xmlns:a16="http://schemas.microsoft.com/office/drawing/2014/main" id="{B989B007-6706-3D28-B071-53E971C378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5944" y="3377653"/>
            <a:ext cx="620111" cy="550616"/>
          </a:xfrm>
          <a:prstGeom prst="rect">
            <a:avLst/>
          </a:prstGeom>
        </p:spPr>
      </p:pic>
      <p:pic>
        <p:nvPicPr>
          <p:cNvPr id="8" name="Graphic 7" descr="Arrow Up with solid fill">
            <a:extLst>
              <a:ext uri="{FF2B5EF4-FFF2-40B4-BE49-F238E27FC236}">
                <a16:creationId xmlns:a16="http://schemas.microsoft.com/office/drawing/2014/main" id="{50441A05-FCAE-6141-D3B7-71B2A0DC49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415048" y="4591598"/>
            <a:ext cx="620111" cy="550616"/>
          </a:xfrm>
          <a:prstGeom prst="rect">
            <a:avLst/>
          </a:prstGeom>
        </p:spPr>
      </p:pic>
      <p:pic>
        <p:nvPicPr>
          <p:cNvPr id="10" name="Graphic 9" descr="Transfer with solid fill">
            <a:extLst>
              <a:ext uri="{FF2B5EF4-FFF2-40B4-BE49-F238E27FC236}">
                <a16:creationId xmlns:a16="http://schemas.microsoft.com/office/drawing/2014/main" id="{DBCA057F-0EDE-1A6C-CBC8-D43F1915A4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99986" y="2130970"/>
            <a:ext cx="557049" cy="557049"/>
          </a:xfrm>
          <a:prstGeom prst="rect">
            <a:avLst/>
          </a:prstGeom>
        </p:spPr>
      </p:pic>
      <p:pic>
        <p:nvPicPr>
          <p:cNvPr id="11" name="Graphic 10" descr="Arrow Up with solid fill">
            <a:extLst>
              <a:ext uri="{FF2B5EF4-FFF2-40B4-BE49-F238E27FC236}">
                <a16:creationId xmlns:a16="http://schemas.microsoft.com/office/drawing/2014/main" id="{DD842719-86D5-7F0A-0F71-E2B4F1B8DC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105807" y="5749129"/>
            <a:ext cx="620111" cy="55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778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C7659-361B-1FCA-AC9F-66B863F4A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0225"/>
            <a:ext cx="9144000" cy="1082675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venir Next" panose="020B0503020202020204" pitchFamily="34" charset="0"/>
              </a:rPr>
              <a:t>Limitations of the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73FF1-2EC6-7964-6094-DAAE65E2A6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P-values are not very informative due to the dataset size, over 100,000 rows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Cramer’s V cannot provide information about the direction of a relationship, requiring other analytical 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7EBB-F2F6-D4BC-6C85-45217AFDF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847850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Logistic regression assumes a linear relationship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Random forest models can be memory intensive, especially on large datasets</a:t>
            </a:r>
          </a:p>
        </p:txBody>
      </p:sp>
      <p:pic>
        <p:nvPicPr>
          <p:cNvPr id="6" name="Graphic 5" descr="Warning with solid fill">
            <a:extLst>
              <a:ext uri="{FF2B5EF4-FFF2-40B4-BE49-F238E27FC236}">
                <a16:creationId xmlns:a16="http://schemas.microsoft.com/office/drawing/2014/main" id="{C9750F21-33CA-2C9E-EF74-39E62AAB6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07517" y="4537021"/>
            <a:ext cx="1897117" cy="189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35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EDFE-AACC-E773-B90E-1384D4310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0071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venir Next" panose="020B0503020202020204" pitchFamily="34" charset="0"/>
              </a:rPr>
              <a:t>Proposed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1FE37-C1C0-BE75-60AB-43CD414E5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Use Metformin-Rosiglitazone, Chlorpropamide, Acarbose, and Metformin before other diabetes medications when possible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Always administer an HbA1c test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Patients who are prescribed Repaglinide or Insulin, or who have had recent medication changes, should undergo more comprehensive health screenings to identify diabetes-related conditions that can be addressed during their stay</a:t>
            </a:r>
          </a:p>
        </p:txBody>
      </p:sp>
    </p:spTree>
    <p:extLst>
      <p:ext uri="{BB962C8B-B14F-4D97-AF65-F5344CB8AC3E}">
        <p14:creationId xmlns:p14="http://schemas.microsoft.com/office/powerpoint/2010/main" val="1753539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EB04E-00BA-32DD-EF6F-4C98B18E0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8961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venir Next" panose="020B0503020202020204" pitchFamily="34" charset="0"/>
              </a:rPr>
              <a:t>Benefits of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225DE-A040-9C38-62CF-E16F3BB96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03237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One preventable diabetic ketoacidosis admission costs the same as 27 years of insulin therapy </a:t>
            </a: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(</a:t>
            </a:r>
            <a:r>
              <a:rPr lang="en-US" sz="2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AlShamsi</a:t>
            </a: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et al.) For 1,000 readmissions per year, reducing readmission by 17% could save $425K – $1.06M annually due to the cost of insulin therapy</a:t>
            </a:r>
            <a:endParaRPr lang="en-US" sz="2400" dirty="0">
              <a:solidFill>
                <a:srgbClr val="D1D1D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Hospitals with higher readmissions compared to national averages can be docked a 1-3% penalty on reimbursements from Centers for Medicare and Medicaid Services’ (CMS) </a:t>
            </a: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(“Hospitals with the Highest Readmission Penalties”).</a:t>
            </a: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For a hospital with $200M in annual Medicare revenue, a 3% penalty is a $6M loss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Adult patients with diabetes represent 10-25% of all 30-day unplanned hospital readmissions </a:t>
            </a: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(</a:t>
            </a:r>
            <a:r>
              <a:rPr lang="en-US" sz="2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Gek</a:t>
            </a:r>
            <a:r>
              <a:rPr lang="en-US" sz="2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et al.) For 1,000 readmissions per year, reducing readmission by 17% could save $260K - $660K annually</a:t>
            </a:r>
            <a:endParaRPr lang="en-US" sz="2400" dirty="0">
              <a:solidFill>
                <a:srgbClr val="D1D1D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867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95E3-23F1-BB3C-6491-1DF192B1A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0637"/>
            <a:ext cx="28702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venir Next" panose="020B0503020202020204" pitchFamily="34" charset="0"/>
              </a:rPr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48141-6008-08D8-3A62-F1C71BA14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041400"/>
            <a:ext cx="11544300" cy="5588000"/>
          </a:xfrm>
        </p:spPr>
        <p:txBody>
          <a:bodyPr>
            <a:normAutofit lnSpcReduction="10000"/>
          </a:bodyPr>
          <a:lstStyle/>
          <a:p>
            <a:pPr>
              <a:lnSpc>
                <a:spcPct val="170000"/>
              </a:lnSpc>
            </a:pPr>
            <a:r>
              <a:rPr lang="en-US" sz="1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AlShamsi</a:t>
            </a: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Fayez, et al. “Identifying the Healthcare Burden of Diabetic Ketoacidosis: Economic Analysis and Mitigation Strategies for Adult Patients in the United Arab Emirates.” Diabetes Therapy, 1 Nov. 2025, </a:t>
            </a:r>
            <a:r>
              <a:rPr lang="en-US" sz="1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link.springer.com</a:t>
            </a: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/article/10.1007/s13300-025-01812-w#Abs1, https://</a:t>
            </a:r>
            <a:r>
              <a:rPr lang="en-US" sz="1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doi.org</a:t>
            </a: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/10.1007/s13300-025-01812-w. Accessed 14 Mar. 2026.</a:t>
            </a:r>
          </a:p>
          <a:p>
            <a:pPr>
              <a:lnSpc>
                <a:spcPct val="170000"/>
              </a:lnSpc>
            </a:pPr>
            <a:r>
              <a:rPr lang="en-US" sz="1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Gek</a:t>
            </a: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Jade, et al. “Predicting and Validating 30-Day Hospital Readmission in Adults with Diabetes Whose Index Admission Is Diabetes-Related.” The Journal of Clinical Endocrinology &amp; Metabolism, vol. 107, no. 10, 23 June 2022, pp. 2865–2873, </a:t>
            </a:r>
            <a:r>
              <a:rPr lang="en-US" sz="1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academic.oup.com</a:t>
            </a: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/</a:t>
            </a:r>
            <a:r>
              <a:rPr lang="en-US" sz="1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jcem</a:t>
            </a: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/article/107/10/2865/6615329?login=false, https://</a:t>
            </a:r>
            <a:r>
              <a:rPr lang="en-US" sz="1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doi.org</a:t>
            </a: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/10.1210/</a:t>
            </a:r>
            <a:r>
              <a:rPr lang="en-US" sz="1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clinem</a:t>
            </a: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/dgac380. Accessed 14 Mar. 2026.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“Hospitals with the Highest Readmission Penalties.” Definitive Healthcare, 26 Nov. 2025, </a:t>
            </a:r>
            <a:r>
              <a:rPr lang="en-US" sz="1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www.definitivehc.com</a:t>
            </a: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/resources/healthcare-insights/hospital-readmission-rate-penalties. Accessed 14 Mar. 2026.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Soh JGS, Wong WP, Mukhopadhyay A, Quek SC, Tai BC. Predictors of 30-day unplanned hospital readmission among adult patients with diabetes mellitus: a systematic review with meta-analysis. BMJ Open Diabetes Research &amp; Care. 2020;8:e001227. https://</a:t>
            </a:r>
            <a:r>
              <a:rPr lang="en-US" sz="1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doi.org</a:t>
            </a: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/10.1136/bmjdrc-2020-001227 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Yun, </a:t>
            </a:r>
            <a:r>
              <a:rPr lang="en-US" sz="1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Jaehyeon</a:t>
            </a: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et al. “Predicting Hospital Readmission in Medicaid Patients with Diabetes Using Administrative and Claims Data.” The American Journal of Managed Care, vol. 29, no. 8, 22 Aug. 2023, </a:t>
            </a:r>
            <a:r>
              <a:rPr lang="en-US" sz="1400" dirty="0" err="1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www.ajmc.com</a:t>
            </a:r>
            <a:r>
              <a:rPr lang="en-US" sz="1400" dirty="0">
                <a:solidFill>
                  <a:srgbClr val="D1D1D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/view/predicting-hospital-readmission-in-medicaid-patients-with-diabetes-using-administrative-and-claims-data. Accessed 14 Mar. 2026.</a:t>
            </a:r>
          </a:p>
        </p:txBody>
      </p:sp>
    </p:spTree>
    <p:extLst>
      <p:ext uri="{BB962C8B-B14F-4D97-AF65-F5344CB8AC3E}">
        <p14:creationId xmlns:p14="http://schemas.microsoft.com/office/powerpoint/2010/main" val="1517886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</TotalTime>
  <Words>968</Words>
  <Application>Microsoft Macintosh PowerPoint</Application>
  <PresentationFormat>Widescreen</PresentationFormat>
  <Paragraphs>75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Avenir Next</vt:lpstr>
      <vt:lpstr>Helvetica Neue Light</vt:lpstr>
      <vt:lpstr>Office Theme</vt:lpstr>
      <vt:lpstr>Clinical Risk Factor Analysis for 30-Day Diabetic Readmission</vt:lpstr>
      <vt:lpstr>About Me</vt:lpstr>
      <vt:lpstr>Problem and Hypothesis</vt:lpstr>
      <vt:lpstr>Data Cleaning Summary</vt:lpstr>
      <vt:lpstr>Chi-Square Testing Summary</vt:lpstr>
      <vt:lpstr>Cramer’s V Summary</vt:lpstr>
      <vt:lpstr>Logistic Regression Summary</vt:lpstr>
      <vt:lpstr>Random Forest Summary</vt:lpstr>
      <vt:lpstr>Summary of Findings</vt:lpstr>
      <vt:lpstr>Limitations of the Analysis</vt:lpstr>
      <vt:lpstr>Proposed Actions</vt:lpstr>
      <vt:lpstr>Benefits of Analysis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Stringer</dc:creator>
  <cp:lastModifiedBy>Andrew Stringer</cp:lastModifiedBy>
  <cp:revision>16</cp:revision>
  <dcterms:created xsi:type="dcterms:W3CDTF">2026-03-13T01:08:37Z</dcterms:created>
  <dcterms:modified xsi:type="dcterms:W3CDTF">2026-03-17T01:14:00Z</dcterms:modified>
</cp:coreProperties>
</file>